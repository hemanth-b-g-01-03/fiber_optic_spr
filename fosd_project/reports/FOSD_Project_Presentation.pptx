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+ Explainable AI for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Fiber-Optic SPR Sensor 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337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Reimplementing and extending a 2024 IEEE Sensors Letters paper with an inverse-design parameter recommendation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</a:rPr>
              <a:t>Academic Project Presentation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869680" y="914400"/>
            <a:ext cx="457200" cy="457200"/>
          </a:xfrm>
          <a:prstGeom prst="ellipse">
            <a:avLst/>
          </a:prstGeom>
          <a:solidFill>
            <a:srgbClr val="E8A33D">
              <a:alpha val="80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960120"/>
            <a:ext cx="402336" cy="402336"/>
          </a:xfrm>
          <a:prstGeom prst="ellipse">
            <a:avLst/>
          </a:prstGeom>
          <a:solidFill>
            <a:srgbClr val="E8A33D">
              <a:alpha val="65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0" y="1005840"/>
            <a:ext cx="347472" cy="347472"/>
          </a:xfrm>
          <a:prstGeom prst="ellipse">
            <a:avLst/>
          </a:prstGeom>
          <a:solidFill>
            <a:srgbClr val="E8A33D">
              <a:alpha val="50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78440" y="1051560"/>
            <a:ext cx="292608" cy="292608"/>
          </a:xfrm>
          <a:prstGeom prst="ellipse">
            <a:avLst/>
          </a:prstGeom>
          <a:solidFill>
            <a:srgbClr val="E8A33D">
              <a:alpha val="35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1097280"/>
            <a:ext cx="237744" cy="237744"/>
          </a:xfrm>
          <a:prstGeom prst="ellipse">
            <a:avLst/>
          </a:prstGeom>
          <a:solidFill>
            <a:srgbClr val="E8A33D">
              <a:alpha val="20000"/>
            </a:srgbClr>
          </a:solidFill>
          <a:ln w="127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of the Reference Paper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9494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00200"/>
            <a:ext cx="320040" cy="320040"/>
          </a:xfrm>
          <a:prstGeom prst="ellipse">
            <a:avLst/>
          </a:prstGeom>
          <a:solidFill>
            <a:srgbClr val="2FA6A0"/>
          </a:solidFill>
          <a:ln w="12700">
            <a:solidFill>
              <a:srgbClr val="2FA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Replace slow physics-based TMM simulation with fast ML-based FoM prediction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770632"/>
            <a:ext cx="320040" cy="320040"/>
          </a:xfrm>
          <a:prstGeom prst="ellipse">
            <a:avLst/>
          </a:prstGeom>
          <a:solidFill>
            <a:srgbClr val="2FA6A0"/>
          </a:solidFill>
          <a:ln w="12700">
            <a:solidFill>
              <a:srgbClr val="2FA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679192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Benchmark 4 ML models — Random Forest, XGBoost, CatBoost, ANN — on a 32,760-row dataset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941064"/>
            <a:ext cx="320040" cy="320040"/>
          </a:xfrm>
          <a:prstGeom prst="ellipse">
            <a:avLst/>
          </a:prstGeom>
          <a:solidFill>
            <a:srgbClr val="2FA6A0"/>
          </a:solidFill>
          <a:ln w="12700">
            <a:solidFill>
              <a:srgbClr val="2FA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41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849624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Identify the best model via MAE, RMSE, R² (paper's winner: CatBoost, MAE = 0.37 RIU⁻¹)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5111496"/>
            <a:ext cx="320040" cy="320040"/>
          </a:xfrm>
          <a:prstGeom prst="ellipse">
            <a:avLst/>
          </a:prstGeom>
          <a:solidFill>
            <a:srgbClr val="2FA6A0"/>
          </a:solidFill>
          <a:ln w="12700">
            <a:solidFill>
              <a:srgbClr val="2FA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11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5020056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Use SHAP to explain which design parameters drive FoM the most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80960" y="1234440"/>
            <a:ext cx="3931920" cy="5120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</a:rPr>
              <a:t>Design parameters (inputs)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Wavelength (λ)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2423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Sensing length (L)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5280" y="2880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Analyte refractive index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0" y="3337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Ag layer thickness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A6A0"/>
                </a:solidFill>
              </a:rPr>
              <a:t>Output: Figure of Merit (FoM)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0" y="4434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6E8"/>
                </a:solidFill>
              </a:rPr>
              <a:t>FoM = Sensitivity / FWHM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Paper: Outputs &amp; the Gap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What the paper delivers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Simulated dataset (5 columns, 32,760 rows)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Trained ML models + MAE/RMSE/R² table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Actual vs predicted trend plots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Global SHAP feature-importance plots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27432" cy="5029200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What's missing (the gap this project fills)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645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3A1F"/>
                </a:solidFill>
              </a:rPr>
              <a:t>• No inverse design — can't ask “what parameters give me the best FoM?”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3A1F"/>
                </a:solidFill>
              </a:rPr>
              <a:t>• No interactive tool — static plots only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3A1F"/>
                </a:solidFill>
              </a:rPr>
              <a:t>• No per-prediction (local) explanations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3A1F"/>
                </a:solidFill>
              </a:rPr>
              <a:t>• No deployable software artifact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Novelty Added in This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Inverse-Design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Parameter Recommendation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</a:rPr>
              <a:t>Given a target analyte RI, differential evolution searches L &amp; Ag thickness to maximize predicted FoM.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37160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691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FA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53712" y="2514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Interactive Full-Stack App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34290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</a:rPr>
              <a:t>Streamlit frontend + backend: live sliders, instant FoM prediction, no static plots.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137160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6916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8E7C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30184" y="25146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Local Explainability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0184" y="342900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</a:rPr>
              <a:t>SHAP waterfall plots explain individual predictions, not just global trends.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8"/>
                </a:solidFill>
              </a:rPr>
              <a:t>Data → Models → Explainability → Recommendation → App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Generation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No MATLAB / original dataset was available — a physics-informed analytical simulator was built in Python, calibrated to well-documented SPR trends: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7724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017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Trend encoded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Physical basis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Resonance wavelength red-shifts with RI &amp; thickness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Standard SPR behaviour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FWHM broadens with Ag thickness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Increased radiative/ohmic damping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An optimal sensing length exists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Under- vs over-coupling of the plasmonic mode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Sensitivity ~ thousands of nm/RIU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Consistent with fiber-optic SPR literature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2011680"/>
            <a:ext cx="3017520" cy="3931920"/>
          </a:xfrm>
          <a:prstGeom prst="roundRect">
            <a:avLst>
              <a:gd name="adj" fmla="val 2424"/>
            </a:avLst>
          </a:prstGeom>
          <a:solidFill>
            <a:srgbClr val="0B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</a:rPr>
              <a:t>Dataset scale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778240" y="2697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35,200 rows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0" y="3474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16 Ag thickness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(35–50 nm)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78240" y="4251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25 sensing length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(5–29 mm)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78240" y="5029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88 analyte RI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(1.330–1.418)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371600"/>
          <a:ext cx="5943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28016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MAE (RIU⁻¹)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CatBoost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1.156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2.084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0.8626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XGBoost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1.263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1.946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0.8801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RandomForest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1.275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1.985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0.8753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ANN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1.295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2.014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</a:rPr>
                        <a:t>0.8716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280160" y="39319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480"/>
                </a:solidFill>
              </a:rPr>
              <a:t>Random Forest and ANN were trained and validated in this environment; XGBoost and CatBoost run identically on the full stack once installed locally (pip install -r requirements.txt).</a:t>
            </a:r>
            <a:endParaRPr lang="en-US" sz="1200" dirty="0"/>
          </a:p>
        </p:txBody>
      </p:sp>
      <p:pic>
        <p:nvPicPr>
          <p:cNvPr id="5" name="Image 0" descr="../outputs/trend_m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371600"/>
            <a:ext cx="4206240" cy="1508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98080" y="2926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480"/>
                </a:solidFill>
              </a:rPr>
              <a:t>Actual vs predicted FoM (trend matching)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 (SHAP)</a:t>
            </a:r>
            <a:endParaRPr lang="en-US" sz="2600" dirty="0"/>
          </a:p>
        </p:txBody>
      </p:sp>
      <p:pic>
        <p:nvPicPr>
          <p:cNvPr id="3" name="Image 0" descr="../outputs/shap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338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7091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0"/>
                </a:solidFill>
              </a:rPr>
              <a:t>SHAP beeswarm summary plot, CatBoost model trained on TMM-generated data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035040" y="128016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0936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Key finding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19659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Analyte RI ranks highest, ahead of sensing length, wavelength, and Ag thickness — physically sensible, since RI is what an SPR sensor fundamentally detects. Obtained after fixing a dip-tracking bug that previously let wavelength absorb spurious noise (see Limitations).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936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A6A0"/>
                </a:solidFill>
              </a:rPr>
              <a:t>Novelty: local explanations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37947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Beyond the paper's global-only SHAP analysis, this project adds per-prediction waterfall plots — explaining exactly why one specific design choice received its FoM score.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Recommendation System (Novelty)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Forward prediction (the paper)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(λ, L, RI, thickness)  →  FoM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0"/>
          </a:xfrm>
          <a:prstGeom prst="line">
            <a:avLst/>
          </a:prstGeom>
          <a:noFill/>
          <a:ln w="1905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</a:rPr>
              <a:t>Inverse design (this project)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RI  →  optimal (L, thickness)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maximizing predicted FoM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480"/>
                </a:solidFill>
              </a:rPr>
              <a:t>Powered by differential evolution over the trained surrogate model, with resonance wavelength derived consistently from the physics module for each candidate.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</a:rPr>
              <a:t>Example recommendation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</a:rPr>
              <a:t>Target analyte RI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1.350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6334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</a:rPr>
              <a:t>Recommended Ag thickness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0" y="26334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35.0 nm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2552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</a:rPr>
              <a:t>Recommended sensing length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0" y="325526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20.7 mm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87705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</a:rPr>
              <a:t>Resulting resonance wavelength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0" y="38770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742.7 nm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4988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</a:rPr>
              <a:t>Predicted FoM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0" y="44988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51.6 RIU⁻¹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FA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Physics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Simulator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46304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FA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14630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ML 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(RF/XGB/CatBoost/ANN)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46304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FA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4630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SHAP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Explainability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95360" y="146304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FA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4630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Optimizer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(Recommendation)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480"/>
                </a:solidFill>
              </a:rPr>
              <a:t>Backend (Python modules)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3291840"/>
            <a:ext cx="0" cy="548640"/>
          </a:xfrm>
          <a:prstGeom prst="line">
            <a:avLst/>
          </a:prstGeom>
          <a:noFill/>
          <a:ln w="25400">
            <a:solidFill>
              <a:srgbClr val="D8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3931920"/>
            <a:ext cx="8138160" cy="2286000"/>
          </a:xfrm>
          <a:prstGeom prst="roundRect">
            <a:avLst>
              <a:gd name="adj" fmla="val 3200"/>
            </a:avLst>
          </a:prstGeom>
          <a:solidFill>
            <a:srgbClr val="0B1F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</a:rPr>
              <a:t>Frontend: Streamlit App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68880" y="470916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4754880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Overview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41648" y="470916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4754880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Live FoM Predictor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14416" y="470916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0136" y="4754880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Model Comparison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87184" y="470916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2904" y="4754880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Explainable 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59952" y="4709160"/>
            <a:ext cx="1417320" cy="1234440"/>
          </a:xfrm>
          <a:prstGeom prst="roundRect">
            <a:avLst>
              <a:gd name="adj" fmla="val 4444"/>
            </a:avLst>
          </a:prstGeom>
          <a:solidFill>
            <a:srgbClr val="1B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05672" y="4754880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Parameter Recommendation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716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Fixed: resonance dip-finder could jump between competing near-degenerate dips, producing spurious sensitivity spikes; now uses continuity-tracked dip search + wider scan window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260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Fixed: trend-matching plot previously sampled only the 200 lowest-FoM points, making Actual look artificially flat; now uses a representative full-range sample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48056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Remaining gap: single-pole Drude model for Ag somewhat underestimates its real refractive index vs. tabulated Johnson &amp; Christy data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E8"/>
                </a:solidFill>
              </a:rPr>
              <a:t>This project reproduces the paper's ML + XAI pipeline for FoM prediction, and extends it with a genuinely novel inverse-design parameter recommendation system and an interactive full-stack application — while transparently documenting every modelling assumption made under a tight timeline.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320040" cy="3200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Working ML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822192"/>
            <a:ext cx="320040" cy="3200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22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7764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Frontend + Backend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443984"/>
            <a:ext cx="320040" cy="3200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43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439826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Explainable AI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5065776"/>
            <a:ext cx="320040" cy="3200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657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502005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Parameter recommendation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687568"/>
            <a:ext cx="320040" cy="3200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687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5641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Report + PPT + GitHub repo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2026-08-01T01:44:51Z</dcterms:created>
  <dcterms:modified xsi:type="dcterms:W3CDTF">2026-08-01T01:44:51Z</dcterms:modified>
</cp:coreProperties>
</file>